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798CC-BD2A-49C0-8563-033091AA9544}" v="1" dt="2026-10-13T03:44:32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izharasan M" userId="57825d8bb0b9bc8e" providerId="LiveId" clId="{156AB005-7FE3-4B52-9021-2A74486BE968}"/>
    <pc:docChg chg="undo custSel modSld">
      <pc:chgData name="Thamizharasan M" userId="57825d8bb0b9bc8e" providerId="LiveId" clId="{156AB005-7FE3-4B52-9021-2A74486BE968}" dt="2026-10-13T03:52:38.297" v="25" actId="1076"/>
      <pc:docMkLst>
        <pc:docMk/>
      </pc:docMkLst>
      <pc:sldChg chg="delSp modSp mod">
        <pc:chgData name="Thamizharasan M" userId="57825d8bb0b9bc8e" providerId="LiveId" clId="{156AB005-7FE3-4B52-9021-2A74486BE968}" dt="2026-10-13T03:44:32.481" v="5"/>
        <pc:sldMkLst>
          <pc:docMk/>
          <pc:sldMk cId="0" sldId="256"/>
        </pc:sldMkLst>
        <pc:spChg chg="del">
          <ac:chgData name="Thamizharasan M" userId="57825d8bb0b9bc8e" providerId="LiveId" clId="{156AB005-7FE3-4B52-9021-2A74486BE968}" dt="2026-10-13T03:43:36.449" v="1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Thamizharasan M" userId="57825d8bb0b9bc8e" providerId="LiveId" clId="{156AB005-7FE3-4B52-9021-2A74486BE968}" dt="2026-10-13T03:44:32.481" v="5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Thamizharasan M" userId="57825d8bb0b9bc8e" providerId="LiveId" clId="{156AB005-7FE3-4B52-9021-2A74486BE968}" dt="2026-10-13T03:44:56.705" v="7" actId="478"/>
        <pc:sldMkLst>
          <pc:docMk/>
          <pc:sldMk cId="0" sldId="257"/>
        </pc:sldMkLst>
        <pc:spChg chg="del mod">
          <ac:chgData name="Thamizharasan M" userId="57825d8bb0b9bc8e" providerId="LiveId" clId="{156AB005-7FE3-4B52-9021-2A74486BE968}" dt="2026-10-13T03:44:56.705" v="7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Thamizharasan M" userId="57825d8bb0b9bc8e" providerId="LiveId" clId="{156AB005-7FE3-4B52-9021-2A74486BE968}" dt="2026-10-13T03:45:09.377" v="10" actId="478"/>
        <pc:sldMkLst>
          <pc:docMk/>
          <pc:sldMk cId="0" sldId="258"/>
        </pc:sldMkLst>
        <pc:spChg chg="del mod">
          <ac:chgData name="Thamizharasan M" userId="57825d8bb0b9bc8e" providerId="LiveId" clId="{156AB005-7FE3-4B52-9021-2A74486BE968}" dt="2026-10-13T03:45:09.377" v="10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">
        <pc:chgData name="Thamizharasan M" userId="57825d8bb0b9bc8e" providerId="LiveId" clId="{156AB005-7FE3-4B52-9021-2A74486BE968}" dt="2026-10-13T03:45:17.997" v="11" actId="478"/>
        <pc:sldMkLst>
          <pc:docMk/>
          <pc:sldMk cId="0" sldId="259"/>
        </pc:sldMkLst>
        <pc:spChg chg="del">
          <ac:chgData name="Thamizharasan M" userId="57825d8bb0b9bc8e" providerId="LiveId" clId="{156AB005-7FE3-4B52-9021-2A74486BE968}" dt="2026-10-13T03:45:17.997" v="11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Sp mod">
        <pc:chgData name="Thamizharasan M" userId="57825d8bb0b9bc8e" providerId="LiveId" clId="{156AB005-7FE3-4B52-9021-2A74486BE968}" dt="2026-10-13T03:45:24.072" v="12" actId="478"/>
        <pc:sldMkLst>
          <pc:docMk/>
          <pc:sldMk cId="0" sldId="260"/>
        </pc:sldMkLst>
        <pc:spChg chg="del">
          <ac:chgData name="Thamizharasan M" userId="57825d8bb0b9bc8e" providerId="LiveId" clId="{156AB005-7FE3-4B52-9021-2A74486BE968}" dt="2026-10-13T03:45:24.072" v="12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Thamizharasan M" userId="57825d8bb0b9bc8e" providerId="LiveId" clId="{156AB005-7FE3-4B52-9021-2A74486BE968}" dt="2026-10-13T03:43:26.490" v="0" actId="20577"/>
          <ac:spMkLst>
            <pc:docMk/>
            <pc:sldMk cId="0" sldId="260"/>
            <ac:spMk id="13" creationId="{00000000-0000-0000-0000-000000000000}"/>
          </ac:spMkLst>
        </pc:spChg>
      </pc:sldChg>
      <pc:sldChg chg="delSp mod">
        <pc:chgData name="Thamizharasan M" userId="57825d8bb0b9bc8e" providerId="LiveId" clId="{156AB005-7FE3-4B52-9021-2A74486BE968}" dt="2026-10-13T03:45:31.792" v="13" actId="478"/>
        <pc:sldMkLst>
          <pc:docMk/>
          <pc:sldMk cId="0" sldId="261"/>
        </pc:sldMkLst>
        <pc:spChg chg="del">
          <ac:chgData name="Thamizharasan M" userId="57825d8bb0b9bc8e" providerId="LiveId" clId="{156AB005-7FE3-4B52-9021-2A74486BE968}" dt="2026-10-13T03:45:31.792" v="13" actId="478"/>
          <ac:spMkLst>
            <pc:docMk/>
            <pc:sldMk cId="0" sldId="261"/>
            <ac:spMk id="3" creationId="{00000000-0000-0000-0000-000000000000}"/>
          </ac:spMkLst>
        </pc:spChg>
      </pc:sldChg>
      <pc:sldChg chg="delSp mod">
        <pc:chgData name="Thamizharasan M" userId="57825d8bb0b9bc8e" providerId="LiveId" clId="{156AB005-7FE3-4B52-9021-2A74486BE968}" dt="2026-10-13T03:46:31.374" v="14" actId="478"/>
        <pc:sldMkLst>
          <pc:docMk/>
          <pc:sldMk cId="0" sldId="262"/>
        </pc:sldMkLst>
        <pc:spChg chg="del">
          <ac:chgData name="Thamizharasan M" userId="57825d8bb0b9bc8e" providerId="LiveId" clId="{156AB005-7FE3-4B52-9021-2A74486BE968}" dt="2026-10-13T03:46:31.374" v="14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">
        <pc:chgData name="Thamizharasan M" userId="57825d8bb0b9bc8e" providerId="LiveId" clId="{156AB005-7FE3-4B52-9021-2A74486BE968}" dt="2026-10-13T03:46:41.796" v="15" actId="478"/>
        <pc:sldMkLst>
          <pc:docMk/>
          <pc:sldMk cId="0" sldId="263"/>
        </pc:sldMkLst>
        <pc:spChg chg="del">
          <ac:chgData name="Thamizharasan M" userId="57825d8bb0b9bc8e" providerId="LiveId" clId="{156AB005-7FE3-4B52-9021-2A74486BE968}" dt="2026-10-13T03:46:41.796" v="15" actId="478"/>
          <ac:spMkLst>
            <pc:docMk/>
            <pc:sldMk cId="0" sldId="263"/>
            <ac:spMk id="3" creationId="{00000000-0000-0000-0000-000000000000}"/>
          </ac:spMkLst>
        </pc:spChg>
      </pc:sldChg>
      <pc:sldChg chg="delSp mod">
        <pc:chgData name="Thamizharasan M" userId="57825d8bb0b9bc8e" providerId="LiveId" clId="{156AB005-7FE3-4B52-9021-2A74486BE968}" dt="2026-10-13T03:47:14.346" v="16" actId="478"/>
        <pc:sldMkLst>
          <pc:docMk/>
          <pc:sldMk cId="0" sldId="264"/>
        </pc:sldMkLst>
        <pc:spChg chg="del">
          <ac:chgData name="Thamizharasan M" userId="57825d8bb0b9bc8e" providerId="LiveId" clId="{156AB005-7FE3-4B52-9021-2A74486BE968}" dt="2026-10-13T03:47:14.346" v="16" actId="478"/>
          <ac:spMkLst>
            <pc:docMk/>
            <pc:sldMk cId="0" sldId="264"/>
            <ac:spMk id="3" creationId="{00000000-0000-0000-0000-000000000000}"/>
          </ac:spMkLst>
        </pc:spChg>
      </pc:sldChg>
      <pc:sldChg chg="delSp mod">
        <pc:chgData name="Thamizharasan M" userId="57825d8bb0b9bc8e" providerId="LiveId" clId="{156AB005-7FE3-4B52-9021-2A74486BE968}" dt="2026-10-13T03:47:25.924" v="17" actId="478"/>
        <pc:sldMkLst>
          <pc:docMk/>
          <pc:sldMk cId="0" sldId="265"/>
        </pc:sldMkLst>
        <pc:spChg chg="del">
          <ac:chgData name="Thamizharasan M" userId="57825d8bb0b9bc8e" providerId="LiveId" clId="{156AB005-7FE3-4B52-9021-2A74486BE968}" dt="2026-10-13T03:47:25.924" v="17" actId="478"/>
          <ac:spMkLst>
            <pc:docMk/>
            <pc:sldMk cId="0" sldId="265"/>
            <ac:spMk id="3" creationId="{00000000-0000-0000-0000-000000000000}"/>
          </ac:spMkLst>
        </pc:spChg>
      </pc:sldChg>
      <pc:sldChg chg="delSp mod">
        <pc:chgData name="Thamizharasan M" userId="57825d8bb0b9bc8e" providerId="LiveId" clId="{156AB005-7FE3-4B52-9021-2A74486BE968}" dt="2026-10-13T03:47:31.191" v="18" actId="478"/>
        <pc:sldMkLst>
          <pc:docMk/>
          <pc:sldMk cId="0" sldId="266"/>
        </pc:sldMkLst>
        <pc:spChg chg="del">
          <ac:chgData name="Thamizharasan M" userId="57825d8bb0b9bc8e" providerId="LiveId" clId="{156AB005-7FE3-4B52-9021-2A74486BE968}" dt="2026-10-13T03:47:31.191" v="18" actId="478"/>
          <ac:spMkLst>
            <pc:docMk/>
            <pc:sldMk cId="0" sldId="266"/>
            <ac:spMk id="3" creationId="{00000000-0000-0000-0000-000000000000}"/>
          </ac:spMkLst>
        </pc:spChg>
      </pc:sldChg>
      <pc:sldChg chg="delSp modSp mod">
        <pc:chgData name="Thamizharasan M" userId="57825d8bb0b9bc8e" providerId="LiveId" clId="{156AB005-7FE3-4B52-9021-2A74486BE968}" dt="2026-10-13T03:52:38.297" v="25" actId="1076"/>
        <pc:sldMkLst>
          <pc:docMk/>
          <pc:sldMk cId="0" sldId="267"/>
        </pc:sldMkLst>
        <pc:spChg chg="del">
          <ac:chgData name="Thamizharasan M" userId="57825d8bb0b9bc8e" providerId="LiveId" clId="{156AB005-7FE3-4B52-9021-2A74486BE968}" dt="2026-10-13T03:47:37.895" v="19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Thamizharasan M" userId="57825d8bb0b9bc8e" providerId="LiveId" clId="{156AB005-7FE3-4B52-9021-2A74486BE968}" dt="2026-10-13T03:52:38.297" v="2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Thamizharasan M" userId="57825d8bb0b9bc8e" providerId="LiveId" clId="{156AB005-7FE3-4B52-9021-2A74486BE968}" dt="2026-10-13T03:52:32.586" v="23" actId="1076"/>
          <ac:spMkLst>
            <pc:docMk/>
            <pc:sldMk cId="0" sldId="267"/>
            <ac:spMk id="11" creationId="{00000000-0000-0000-0000-000000000000}"/>
          </ac:spMkLst>
        </pc:spChg>
        <pc:spChg chg="del">
          <ac:chgData name="Thamizharasan M" userId="57825d8bb0b9bc8e" providerId="LiveId" clId="{156AB005-7FE3-4B52-9021-2A74486BE968}" dt="2026-10-13T03:47:48.499" v="20" actId="478"/>
          <ac:spMkLst>
            <pc:docMk/>
            <pc:sldMk cId="0" sldId="267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87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694944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872A1"/>
                </a:solidFill>
                <a:latin typeface="Segoe UI"/>
              </a:defRPr>
            </a:pPr>
            <a:r>
              <a:t>AI POWER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7354A"/>
                </a:solidFill>
                <a:latin typeface="Segoe UI"/>
              </a:defRPr>
            </a:pPr>
            <a:r>
              <a:t>Intelligent Household Backup Power Management using Simulated Annealing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6217920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B5277"/>
                </a:solidFill>
                <a:latin typeface="Segoe UI"/>
              </a:defRPr>
            </a:pPr>
            <a:r>
              <a:rPr dirty="0"/>
              <a:t>•  Department: </a:t>
            </a:r>
            <a:r>
              <a:rPr b="1" dirty="0"/>
              <a:t>Computer Science and Engineering</a:t>
            </a:r>
          </a:p>
          <a:p>
            <a:pPr>
              <a:spcAft>
                <a:spcPts val="800"/>
              </a:spcAft>
              <a:defRPr sz="1300">
                <a:solidFill>
                  <a:srgbClr val="1B5277"/>
                </a:solidFill>
                <a:latin typeface="Segoe UI"/>
              </a:defRPr>
            </a:pPr>
            <a:r>
              <a:rPr dirty="0"/>
              <a:t>•  Subject: </a:t>
            </a:r>
            <a:r>
              <a:rPr b="1" dirty="0"/>
              <a:t>Foundations of Artificial Intelligence</a:t>
            </a:r>
          </a:p>
          <a:p>
            <a:pPr>
              <a:spcAft>
                <a:spcPts val="800"/>
              </a:spcAft>
              <a:defRPr sz="1300">
                <a:solidFill>
                  <a:srgbClr val="1B5277"/>
                </a:solidFill>
                <a:latin typeface="Segoe UI"/>
              </a:defRPr>
            </a:pPr>
            <a:r>
              <a:rPr dirty="0"/>
              <a:t>•  Domain: </a:t>
            </a:r>
            <a:r>
              <a:rPr lang="en-US" b="1" dirty="0"/>
              <a:t>Artificial Intelligence (AI) – Local Search and Optimization</a:t>
            </a:r>
            <a:endParaRPr b="1" dirty="0"/>
          </a:p>
        </p:txBody>
      </p:sp>
      <p:sp>
        <p:nvSpPr>
          <p:cNvPr id="9" name="Rounded Rectangle 8"/>
          <p:cNvSpPr/>
          <p:nvPr/>
        </p:nvSpPr>
        <p:spPr>
          <a:xfrm>
            <a:off x="7955279" y="914400"/>
            <a:ext cx="3474720" cy="530352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914400"/>
            <a:ext cx="3474720" cy="731520"/>
          </a:xfrm>
          <a:prstGeom prst="rect">
            <a:avLst/>
          </a:prstGeom>
          <a:solidFill>
            <a:srgbClr val="287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PROJECT TEAM 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29260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2057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872A1"/>
                </a:solidFill>
                <a:latin typeface="Segoe UI"/>
              </a:defRPr>
            </a:pPr>
            <a:r>
              <a:t>Member 1</a:t>
            </a:r>
          </a:p>
          <a:p>
            <a:pPr>
              <a:defRPr sz="1600" b="1">
                <a:solidFill>
                  <a:srgbClr val="17354A"/>
                </a:solidFill>
                <a:latin typeface="Segoe UI"/>
              </a:defRPr>
            </a:pPr>
            <a:r>
              <a:t>Vishnu Priyan M</a:t>
            </a:r>
          </a:p>
          <a:p>
            <a:pPr>
              <a:defRPr sz="1300">
                <a:solidFill>
                  <a:srgbClr val="1B5277"/>
                </a:solidFill>
                <a:latin typeface="Segoe UI"/>
              </a:defRPr>
            </a:pPr>
            <a:r>
              <a:t>Roll No: 240701604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840480"/>
            <a:ext cx="29260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3977639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872A1"/>
                </a:solidFill>
                <a:latin typeface="Segoe UI"/>
              </a:defRPr>
            </a:pPr>
            <a:r>
              <a:t>Member 2</a:t>
            </a:r>
          </a:p>
          <a:p>
            <a:pPr>
              <a:defRPr sz="1600" b="1">
                <a:solidFill>
                  <a:srgbClr val="17354A"/>
                </a:solidFill>
                <a:latin typeface="Segoe UI"/>
              </a:defRPr>
            </a:pPr>
            <a:r>
              <a:t>Thamizharasan M</a:t>
            </a:r>
          </a:p>
          <a:p>
            <a:pPr>
              <a:defRPr sz="1300">
                <a:solidFill>
                  <a:srgbClr val="1B5277"/>
                </a:solidFill>
                <a:latin typeface="Segoe UI"/>
              </a:defRPr>
            </a:pPr>
            <a:r>
              <a:t>Roll No: 240701560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623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5277"/>
                </a:solidFill>
                <a:latin typeface="Segoe UI"/>
              </a:defRPr>
            </a:pPr>
            <a:r>
              <a:t>Dept.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72A1"/>
                </a:solidFill>
                <a:latin typeface="Segoe UI"/>
              </a:defRPr>
            </a:pPr>
            <a:r>
              <a:t>The Household Power Outage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7354A"/>
                </a:solidFill>
                <a:latin typeface="Segoe UI"/>
              </a:defRPr>
            </a:pPr>
            <a:r>
              <a:t>• Limited Backup Capacity: Inverter power (watts) and battery energy storage (watt-hours) are strictly bounded during grid failure.</a:t>
            </a:r>
          </a:p>
          <a:p>
            <a:pPr>
              <a:spcAft>
                <a:spcPts val="900"/>
              </a:spcAft>
              <a:defRPr sz="1200">
                <a:solidFill>
                  <a:srgbClr val="17354A"/>
                </a:solidFill>
                <a:latin typeface="Segoe UI"/>
              </a:defRPr>
            </a:pPr>
            <a:r>
              <a:t>• Simultaneous Load Conflict: Backup systems cannot operate all household appliances at the same time without tripping.</a:t>
            </a:r>
          </a:p>
          <a:p>
            <a:pPr>
              <a:spcAft>
                <a:spcPts val="900"/>
              </a:spcAft>
              <a:defRPr sz="1200">
                <a:solidFill>
                  <a:srgbClr val="17354A"/>
                </a:solidFill>
                <a:latin typeface="Segoe UI"/>
              </a:defRPr>
            </a:pPr>
            <a:r>
              <a:t>• Priority Imbalance: Critical loads (refrigerator, medical devices, Wi-Fi) must take precedence over heavy comfort loads (AC, heater).</a:t>
            </a:r>
          </a:p>
          <a:p>
            <a:pPr>
              <a:spcAft>
                <a:spcPts val="900"/>
              </a:spcAft>
              <a:defRPr sz="1200">
                <a:solidFill>
                  <a:srgbClr val="17354A"/>
                </a:solidFill>
                <a:latin typeface="Segoe UI"/>
              </a:defRPr>
            </a:pPr>
            <a:r>
              <a:t>• Energy Depletion Risk: Uncontrolled running depletes the battery early in the outage, leaving the household powerless later.</a:t>
            </a:r>
          </a:p>
          <a:p>
            <a:pPr>
              <a:spcAft>
                <a:spcPts val="900"/>
              </a:spcAft>
              <a:defRPr sz="1200">
                <a:solidFill>
                  <a:srgbClr val="17354A"/>
                </a:solidFill>
                <a:latin typeface="Segoe UI"/>
              </a:defRPr>
            </a:pPr>
            <a:r>
              <a:t>• Inefficiency of Manual Control: Manual switching fails to anticipate future energy needs, causing frequent overloads and wasted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194560"/>
          </a:xfrm>
          <a:prstGeom prst="roundRect">
            <a:avLst/>
          </a:prstGeom>
          <a:solidFill>
            <a:srgbClr val="E1EDF4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72A1"/>
                </a:solidFill>
                <a:latin typeface="Segoe UI"/>
              </a:defRPr>
            </a:pPr>
            <a:r>
              <a:t>CORE PROJECT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5277"/>
                </a:solidFill>
                <a:latin typeface="Segoe UI"/>
              </a:defRPr>
            </a:pPr>
            <a:r>
              <a:t>“To optimize household appliance operating schedules during power outages using Simulated Annealing while considering appliance priorities, inverter capacity, and available battery energy.”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120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794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872A1"/>
                </a:solidFill>
                <a:latin typeface="Segoe UI"/>
              </a:defRPr>
            </a:pPr>
            <a:r>
              <a:t>System Operational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206240"/>
            <a:ext cx="4663440" cy="5486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defRPr sz="1050">
                <a:solidFill>
                  <a:srgbClr val="17354A"/>
                </a:solidFill>
                <a:latin typeface="Segoe UI"/>
              </a:defRPr>
            </a:pPr>
            <a:r>
              <a:t>Inverter Limit (W): Guarantees per-slot instantaneous power &lt;= maximum rated inverter wattage.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828031"/>
            <a:ext cx="4663440" cy="5486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defRPr sz="1050">
                <a:solidFill>
                  <a:srgbClr val="17354A"/>
                </a:solidFill>
                <a:latin typeface="Segoe UI"/>
              </a:defRPr>
            </a:pPr>
            <a:r>
              <a:t>Battery Storage (Wh): Total energy consumed over outage &lt;= available stored battery reserve.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449824"/>
            <a:ext cx="4663440" cy="54864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defRPr sz="1050">
                <a:solidFill>
                  <a:srgbClr val="17354A"/>
                </a:solidFill>
                <a:latin typeface="Segoe UI"/>
              </a:defRPr>
            </a:pPr>
            <a:r>
              <a:t>Essential Runtimes: Guarantees minimum operating duration for essential loads before outage 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Objectives &amp;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72A1"/>
                </a:solidFill>
                <a:latin typeface="Segoe UI"/>
              </a:defRPr>
            </a:pPr>
            <a:r>
              <a:t>Key 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1. Prioritize Essential Appliances</a:t>
            </a:r>
            <a:br/>
            <a:r>
              <a:t>   Ensure critical devices (refrigerator, Wi-Fi) receive uninterrupted or guaranteed runtimes.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2. Determine ON/OFF Schedules</a:t>
            </a:r>
            <a:br/>
            <a:r>
              <a:t>   Compute precise time-slot schedules for each appliance across the outage period.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3. Allocate Operating Duration</a:t>
            </a:r>
            <a:br/>
            <a:r>
              <a:t>   Fulfill required hours for appliances without exceeding user-specified limits.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4. Respect Inverter Power Limits</a:t>
            </a:r>
            <a:br/>
            <a:r>
              <a:t>   Never exceed peak inverter wattage (e.g., 1000 W) in any discrete time slot.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5. Conserve Battery Energy</a:t>
            </a:r>
            <a:br/>
            <a:r>
              <a:t>   Prevent premature battery exhaustion by keeping total Wh usage within storage capacity.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6. User Review &amp; Visualization</a:t>
            </a:r>
            <a:br/>
            <a:r>
              <a:t>   Present intuitive Gantt charts, energy graphs, and natural-language explanations.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72A1"/>
                </a:solidFill>
                <a:latin typeface="Segoe UI"/>
              </a:defRPr>
            </a:pPr>
            <a:r>
              <a:t>Proposed Solution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4663440" cy="11430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300" b="1">
                <a:solidFill>
                  <a:srgbClr val="1B5277"/>
                </a:solidFill>
                <a:latin typeface="Segoe UI"/>
              </a:defRPr>
            </a:pPr>
            <a:r>
              <a:t>Stage 1: User Input &amp; Specification</a:t>
            </a:r>
          </a:p>
          <a:p>
            <a:pPr>
              <a:defRPr sz="1050">
                <a:solidFill>
                  <a:srgbClr val="17354A"/>
                </a:solidFill>
                <a:latin typeface="Segoe UI"/>
              </a:defRPr>
            </a:pPr>
            <a:r>
              <a:t>Household enters battery capacity (Wh), inverter limit (W), outage hours, and appliance list with power ratings, priority levels, and duration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383280"/>
            <a:ext cx="4663440" cy="1143000"/>
          </a:xfrm>
          <a:prstGeom prst="roundRect">
            <a:avLst/>
          </a:prstGeom>
          <a:solidFill>
            <a:srgbClr val="E1EDF4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300" b="1">
                <a:solidFill>
                  <a:srgbClr val="1B5277"/>
                </a:solidFill>
                <a:latin typeface="Segoe UI"/>
              </a:defRPr>
            </a:pPr>
            <a:r>
              <a:t>Stage 2: AI Optimization (Simulated Annealing)</a:t>
            </a:r>
          </a:p>
          <a:p>
            <a:pPr>
              <a:defRPr sz="1050">
                <a:solidFill>
                  <a:srgbClr val="17354A"/>
                </a:solidFill>
                <a:latin typeface="Segoe UI"/>
              </a:defRPr>
            </a:pPr>
            <a:r>
              <a:t>System validates constraints, generates an initial feasible schedule, and iteratively explores neighbor configurations using temperature-guided local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754880"/>
            <a:ext cx="4663440" cy="11430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1300" b="1">
                <a:solidFill>
                  <a:srgbClr val="1B5277"/>
                </a:solidFill>
                <a:latin typeface="Segoe UI"/>
              </a:defRPr>
            </a:pPr>
            <a:r>
              <a:t>Stage 3: Recommended Schedule &amp; Telemetry</a:t>
            </a:r>
          </a:p>
          <a:p>
            <a:pPr>
              <a:defRPr sz="1050">
                <a:solidFill>
                  <a:srgbClr val="17354A"/>
                </a:solidFill>
                <a:latin typeface="Segoe UI"/>
              </a:defRPr>
            </a:pPr>
            <a:r>
              <a:t>Outputs an optimal timetable, peak load metrics, battery depletion profiles, comparison vs. naive baseline, and explanations for each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Foundations of AI: Syllabus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120640" cy="685800"/>
          </a:xfrm>
          <a:prstGeom prst="rect">
            <a:avLst/>
          </a:prstGeom>
          <a:solidFill>
            <a:srgbClr val="287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Unit I: Introduction to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Intelligent Agent:</a:t>
            </a:r>
            <a:br/>
            <a:r>
              <a:t>   The Power Optimizer senses battery state, inverter specs, and appliances, taking actions via scheduling.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Agent and Environment:</a:t>
            </a:r>
            <a:br/>
            <a:r>
              <a:t>   Environment = battery capacity, inverter limits, appliance profiles. Agent = SA optimizer.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Rational Behaviour:</a:t>
            </a:r>
            <a:br/>
            <a:r>
              <a:t>   Maximizes utility (fitness function) while adhering to power and energy constraints.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Problem-Solving Agent:</a:t>
            </a:r>
            <a:br/>
            <a:r>
              <a:t>   Formulates scheduling as a constrained optimization search problem to reach an optimal goal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114800"/>
          </a:xfrm>
          <a:prstGeom prst="roundRect">
            <a:avLst/>
          </a:prstGeom>
          <a:solidFill>
            <a:srgbClr val="E1EDF4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685800"/>
          </a:xfrm>
          <a:prstGeom prst="rect">
            <a:avLst/>
          </a:prstGeom>
          <a:solidFill>
            <a:srgbClr val="1B52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Unit II: Problem Solving (Core Project Focus)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Local Search Strategy: Maintains a single current candidate schedule and iteratively explores neighbors.</a:t>
            </a:r>
          </a:p>
          <a:p>
            <a:pPr>
              <a:spcAft>
                <a:spcPts val="6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State Space Formulation: Combinatorial state space of 2^(appliances × time slots) possible binary combinations.</a:t>
            </a:r>
          </a:p>
          <a:p>
            <a:pPr>
              <a:spcAft>
                <a:spcPts val="6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Neighbor Generation: Six stochastic mutation operators modify slots, durations, or appliance timings.</a:t>
            </a:r>
          </a:p>
          <a:p>
            <a:pPr>
              <a:spcAft>
                <a:spcPts val="6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Objective Function: Multi-objective fitness balancing priority weights, runtimes, and hard penalty terms.</a:t>
            </a:r>
          </a:p>
          <a:p>
            <a:pPr>
              <a:spcAft>
                <a:spcPts val="6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Simulated Annealing: Core search algorithm with probabilistic acceptance escaping local optima.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277"/>
                </a:solidFill>
                <a:latin typeface="Segoe UI"/>
              </a:defRPr>
            </a:pPr>
            <a:r>
              <a:t>Note on Syllabus Scope: Unit II is the core foundation. Game playing (Unit III) and logical reasoning/inference engines (Unit IV) are not required for the optimization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23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72A1"/>
                </a:solidFill>
                <a:latin typeface="Segoe UI"/>
              </a:defRPr>
            </a:pPr>
            <a:r>
              <a:t>1. User &amp;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User:</a:t>
            </a:r>
            <a:br/>
            <a:r>
              <a:t>  Interacts via browser dashboard.</a:t>
            </a:r>
          </a:p>
          <a:p>
            <a:pPr>
              <a:spcAft>
                <a:spcPts val="14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Input Interface:</a:t>
            </a:r>
            <a:br/>
            <a:r>
              <a:t>  Interactive web UI built with HTML5, CSS3, and JavaScript.</a:t>
            </a:r>
          </a:p>
          <a:p>
            <a:pPr>
              <a:spcAft>
                <a:spcPts val="14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Appliance &amp; Battery Data:</a:t>
            </a:r>
            <a:br/>
            <a:r>
              <a:t>  Structured JSON payload capturing wattage, duration, priority, and battery specs.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23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72A1"/>
                </a:solidFill>
                <a:latin typeface="Segoe UI"/>
              </a:defRPr>
            </a:pPr>
            <a:r>
              <a:t>2. Validation &amp; Pre-check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Data Validation:</a:t>
            </a:r>
            <a:br/>
            <a:r>
              <a:t>  Pydantic models validate data types, range bounds, and non-empty appliance lists.</a:t>
            </a:r>
          </a:p>
          <a:p>
            <a:pPr>
              <a:spcAft>
                <a:spcPts val="14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Constraint Checker:</a:t>
            </a:r>
            <a:br/>
            <a:r>
              <a:t>  constraints.py enforces hard inverter peak limits and battery energy bounds.</a:t>
            </a:r>
          </a:p>
          <a:p>
            <a:pPr>
              <a:spcAft>
                <a:spcPts val="14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FastAPI Backend:</a:t>
            </a:r>
            <a:br/>
            <a:r>
              <a:t>  Asynchronous REST endpoints orchestrate the optimization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23160" cy="4846320"/>
          </a:xfrm>
          <a:prstGeom prst="roundRect">
            <a:avLst/>
          </a:prstGeom>
          <a:solidFill>
            <a:srgbClr val="E1EDF4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21525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5277"/>
                </a:solidFill>
                <a:latin typeface="Segoe UI"/>
              </a:defRPr>
            </a:pPr>
            <a:r>
              <a:rPr dirty="0"/>
              <a:t>3. SA Engine </a:t>
            </a:r>
            <a:br>
              <a:rPr lang="en-IN" dirty="0"/>
            </a:br>
            <a:r>
              <a:rPr dirty="0"/>
              <a:t>(simulated_annealing.py)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Initial State Generator:</a:t>
            </a:r>
            <a:br/>
            <a:r>
              <a:t>  scheduler.py generates random initial feasible schedule.</a:t>
            </a:r>
          </a:p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Neighbor Generator:</a:t>
            </a:r>
            <a:br/>
            <a:r>
              <a:t>  neighbor.py executes stochastic mutations on schedule slots.</a:t>
            </a:r>
          </a:p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Fitness Evaluator:</a:t>
            </a:r>
            <a:br/>
            <a:r>
              <a:t>  fitness.py computes multi-factor score and constraint penalties.</a:t>
            </a:r>
          </a:p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Best Solution Tracker:</a:t>
            </a:r>
            <a:br/>
            <a:r>
              <a:t>  Monitors best-so-far schedule across all iterations.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23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1508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72A1"/>
                </a:solidFill>
                <a:latin typeface="Segoe UI"/>
              </a:defRPr>
            </a:pPr>
            <a:r>
              <a:t>4. Output &amp;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Optimized Power Schedule:</a:t>
            </a:r>
            <a:br/>
            <a:r>
              <a:t>  Final binary ON/OFF matrix formatted with time intervals.</a:t>
            </a:r>
          </a:p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Interactive Dashboard:</a:t>
            </a:r>
            <a:br/>
            <a:r>
              <a:t>  Chart.js v4 rendering power demand curves and battery discharge profiles.</a:t>
            </a:r>
          </a:p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Gantt Chart:</a:t>
            </a:r>
            <a:br/>
            <a:r>
              <a:t>  Visual timeline mapping appliance active intervals.</a:t>
            </a:r>
          </a:p>
          <a:p>
            <a:pPr>
              <a:spcAft>
                <a:spcPts val="10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Comparative Analysis:</a:t>
            </a:r>
            <a:br/>
            <a:r>
              <a:t>  Side-by-side performance comparison against naive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Simulated Annealing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Algorithm Definition &amp; Process</a:t>
            </a:r>
          </a:p>
          <a:p>
            <a:pPr>
              <a:defRPr sz="1150" i="1">
                <a:solidFill>
                  <a:srgbClr val="17354A"/>
                </a:solidFill>
                <a:latin typeface="Segoe UI"/>
              </a:defRPr>
            </a:pPr>
            <a:r>
              <a:t>“Simulated Annealing is a local search optimization algorithm inspired by the controlled cooling of heated materials.”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1. Generate initial schedule (randomized priority heuristic)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2. Set initial temperature T = T0 (1000)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3. Calculate fitness of current schedule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4. Generate neighbor schedule via mutation operator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5. Calculate neighbor schedule fitness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6. If neighbor is better (ΔE &gt; 0), ALWAYS accept it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7. If worse (ΔE &lt;= 0), accept with probability P = exp(ΔE / T)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8. Update best-ever solution if current fitness exceeds it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9. Cool temperature: T = T × α (geometric cooling)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10. Repeat until T &lt; T_min or max iterations reached; return best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80160"/>
            <a:ext cx="4114800" cy="2377440"/>
          </a:xfrm>
          <a:prstGeom prst="roundRect">
            <a:avLst/>
          </a:prstGeom>
          <a:solidFill>
            <a:srgbClr val="E1EDF4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72A1"/>
                </a:solidFill>
                <a:latin typeface="Segoe UI"/>
              </a:defRPr>
            </a:pPr>
            <a:r>
              <a:t>METROPOLIS ACCEPTANCE CRITERION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783080"/>
            <a:ext cx="3749039" cy="685800"/>
          </a:xfrm>
          <a:prstGeom prst="rect">
            <a:avLst/>
          </a:prstGeom>
          <a:solidFill>
            <a:srgbClr val="FFFFFF"/>
          </a:solidFill>
          <a:ln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277"/>
                </a:solidFill>
                <a:latin typeface="Segoe UI"/>
              </a:defRPr>
            </a:pPr>
            <a:r>
              <a:t>P = exp( ΔE / T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60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354A"/>
                </a:solidFill>
                <a:latin typeface="Segoe UI"/>
              </a:defRPr>
            </a:pPr>
            <a:r>
              <a:t>• ΔE = New Fitness − Current Fitness (negative value)</a:t>
            </a:r>
            <a:br/>
            <a:r>
              <a:t>• T = Current Temperature</a:t>
            </a:r>
            <a:br/>
            <a:r>
              <a:t>• High T (Early): P ≈ 1 → Explores broadly, escapes local optima</a:t>
            </a:r>
            <a:br/>
            <a:r>
              <a:t>• Low T (Late): P ≈ 0 → Exploits best discovered region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840480"/>
            <a:ext cx="41148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397763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72A1"/>
                </a:solidFill>
                <a:latin typeface="Segoe UI"/>
              </a:defRPr>
            </a:pPr>
            <a:r>
              <a:t>Documented Hyperparameters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3434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Initial Temperature (T0): 1000 (Controls initial exploration intensity)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Minimum Temperature (T_min): 0.1 (Stopping convergence threshold)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Cooling Rate (α): 0.95 (Geometric cooling decay factor)</a:t>
            </a:r>
          </a:p>
          <a:p>
            <a:pPr>
              <a:spcAft>
                <a:spcPts val="4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Maximum Iterations: 10,000 (Upper computational iteration limit)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State Representation &amp; Neighbor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2D Binary Matrix State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7354A"/>
                </a:solidFill>
                <a:latin typeface="Segoe UI"/>
              </a:defRPr>
            </a:pPr>
            <a:r>
              <a:t>• State definition: schedule[appliance][slot] ∈ {0, 1}</a:t>
            </a:r>
            <a:br/>
            <a:r>
              <a:t>• 1 = Appliance is ON during time slot; 0 = Appliance is OFF</a:t>
            </a:r>
            <a:br/>
            <a:r>
              <a:t>• Rows = appliances; Columns = discrete time slots (e.g. 30 min each)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283464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Appliance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Refrigerator (150W)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Wi-Fi Router (10W)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Water Pump (750W)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1B5277"/>
                </a:solidFill>
                <a:latin typeface="Segoe UI"/>
              </a:defRPr>
            </a:pPr>
            <a:r>
              <a:t>* Illustrative 3-appliance × 6-slot schedule state. Search space size for 6 appliances &amp; 8 slots = 2^48 ≈ 2.81 × 10^14 combinations.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1417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Neighbor Generation Operators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1. Toggle Slot:</a:t>
            </a:r>
            <a:br/>
            <a:r>
              <a:t>   Flip a single cell (0 -&gt; 1 or 1 -&gt; 0) for a randomly selected appliance.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2. Move Operation:</a:t>
            </a:r>
            <a:br/>
            <a:r>
              <a:t>   Shift an operating interval to another start slot, keeping total runtime constant.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3. Extend Duration:</a:t>
            </a:r>
            <a:br/>
            <a:r>
              <a:t>   Turn ON an adjacent slot to satisfy higher runtime requirement.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4. Reduce Duration:</a:t>
            </a:r>
            <a:br/>
            <a:r>
              <a:t>   Turn OFF an active slot to alleviate battery or inverter overload.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5. Swap Schedules:</a:t>
            </a:r>
            <a:br/>
            <a:r>
              <a:t>   Exchange active operating slots between two compatible appliances.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Fitness Function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Fitness Function Formulation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28800"/>
            <a:ext cx="4572000" cy="822960"/>
          </a:xfrm>
          <a:prstGeom prst="rect">
            <a:avLst/>
          </a:prstGeom>
          <a:solidFill>
            <a:srgbClr val="E1EDF4"/>
          </a:solidFill>
          <a:ln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5277"/>
                </a:solidFill>
                <a:latin typeface="Segoe UI"/>
              </a:defRPr>
            </a:pPr>
            <a:r>
              <a:t>Fitness = Σ(Rewards) − Σ(Penalties)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7354A"/>
                </a:solidFill>
                <a:latin typeface="Segoe UI"/>
              </a:defRPr>
            </a:pPr>
            <a:r>
              <a:t>• Priority Reward: Higher score for powering essential &amp; high-priority appliances.</a:t>
            </a:r>
          </a:p>
          <a:p>
            <a:pPr>
              <a:spcAft>
                <a:spcPts val="400"/>
              </a:spcAft>
              <a:defRPr sz="1000">
                <a:solidFill>
                  <a:srgbClr val="17354A"/>
                </a:solidFill>
                <a:latin typeface="Segoe UI"/>
              </a:defRPr>
            </a:pPr>
            <a:r>
              <a:t>• Duration Satisfaction: Reward proportional to meeting requested operating hours.</a:t>
            </a:r>
          </a:p>
          <a:p>
            <a:pPr>
              <a:spcAft>
                <a:spcPts val="400"/>
              </a:spcAft>
              <a:defRPr sz="1000">
                <a:solidFill>
                  <a:srgbClr val="17354A"/>
                </a:solidFill>
                <a:latin typeface="Segoe UI"/>
              </a:defRPr>
            </a:pPr>
            <a:r>
              <a:t>• Time Preference Reward: Bonus for running within preferred time-of-day windows.</a:t>
            </a:r>
          </a:p>
          <a:p>
            <a:pPr>
              <a:spcAft>
                <a:spcPts val="400"/>
              </a:spcAft>
              <a:defRPr sz="1000">
                <a:solidFill>
                  <a:srgbClr val="17354A"/>
                </a:solidFill>
                <a:latin typeface="Segoe UI"/>
              </a:defRPr>
            </a:pPr>
            <a:r>
              <a:t>• Power Violation Penalty: -10,000 heavy penalty per time-slot exceeding inverter limit.</a:t>
            </a:r>
          </a:p>
          <a:p>
            <a:pPr>
              <a:spcAft>
                <a:spcPts val="400"/>
              </a:spcAft>
              <a:defRPr sz="1000">
                <a:solidFill>
                  <a:srgbClr val="17354A"/>
                </a:solidFill>
                <a:latin typeface="Segoe UI"/>
              </a:defRPr>
            </a:pPr>
            <a:r>
              <a:t>• Energy Violation Penalty: -5,000 penalty for exceeding total available battery energy.</a:t>
            </a:r>
          </a:p>
          <a:p>
            <a:pPr>
              <a:spcAft>
                <a:spcPts val="400"/>
              </a:spcAft>
              <a:defRPr sz="1000">
                <a:solidFill>
                  <a:srgbClr val="17354A"/>
                </a:solidFill>
                <a:latin typeface="Segoe UI"/>
              </a:defRPr>
            </a:pPr>
            <a:r>
              <a:t>• Switching Penalty: -2 penalty per ON/OFF transition to minimize frequent toggling.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The Five System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C1: Inverter Power Limit</a:t>
            </a:r>
            <a:br/>
            <a:r>
              <a:t>   Per-slot total power consumption &lt;= max inverter rated wattage (1000 W).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C2: Battery Energy Reserve</a:t>
            </a:r>
            <a:br/>
            <a:r>
              <a:t>   Cumulative energy consumed &lt;= total available battery capacity (Wh).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C3: Essential Appliance Runtime</a:t>
            </a:r>
            <a:br/>
            <a:r>
              <a:t>   Essential appliances must satisfy minimum designated operating hours.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C4: Preferred Time Window</a:t>
            </a:r>
            <a:br/>
            <a:r>
              <a:t>   Appliances with preferred hours operate only inside designated intervals.</a:t>
            </a:r>
          </a:p>
          <a:p>
            <a:pPr>
              <a:spcAft>
                <a:spcPts val="10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C5: Maximum Duration Bound</a:t>
            </a:r>
            <a:br/>
            <a:r>
              <a:t>   Operating duration for any appliance must not exceed max allowed hours.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Technology Stack &amp; Implementation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872A1"/>
                </a:solidFill>
                <a:latin typeface="Segoe UI"/>
              </a:defRPr>
            </a:pPr>
            <a:r>
              <a:t>Frontend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HTML5: Clean semantic structure with glassmorphic cards.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Vanilla CSS: Dark glassmorphic styling, responsive layout.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Vanilla JavaScript: Asynchronous API calls, DOM rendering.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Chart.js v4: Real-time Gantt schedule &amp; telemetry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872A1"/>
                </a:solidFill>
                <a:latin typeface="Segoe UI"/>
              </a:defRPr>
            </a:pPr>
            <a:r>
              <a:t>Backend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Python 3.8+: Core execution language and data models.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FastAPI: High-performance ASGI REST API framework.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Pydantic: Schema validation &amp; serialization for request models.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Uvicorn: Lightning-fast ASGI production web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E1EDF4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5277"/>
                </a:solidFill>
                <a:latin typeface="Segoe UI"/>
              </a:defRPr>
            </a:pPr>
            <a:r>
              <a:t>AI Algorithm Engine (simulated_annealing.py)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100% Hand-implemented Simulated Annealing algorithm.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Custom fitness evaluator (fitness.py) with soft rewards &amp; penalties.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Custom hard constraint checker (constraints.py).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Custom stochastic neighbor generator (neighbor.py).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872A1"/>
                </a:solidFill>
                <a:latin typeface="Segoe UI"/>
              </a:defRPr>
            </a:pPr>
            <a:r>
              <a:t>Data Management &amp; Key Distinction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JSON Storage: Lightweight configuration via default_appliances.json.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Zero Database Overhead: Pure in-memory computation.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NO External Solvers: Strictly avoids OR-Tools, PuLP, SciPy optimize.</a:t>
            </a:r>
          </a:p>
          <a:p>
            <a:pPr>
              <a:spcAft>
                <a:spcPts val="300"/>
              </a:spcAft>
              <a:defRPr sz="1050">
                <a:solidFill>
                  <a:srgbClr val="17354A"/>
                </a:solidFill>
                <a:latin typeface="Segoe UI"/>
              </a:defRPr>
            </a:pPr>
            <a:r>
              <a:t>• Academic Authenticity: Clean, transparent code suitable for viva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Demonstration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Household Backup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Inverter Power Limit: 1000 Watts maximum continuous load</a:t>
            </a:r>
          </a:p>
          <a:p>
            <a:pPr>
              <a:spcAft>
                <a:spcPts val="5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Battery Storage Capacity: 3000 Watt-hours (Wh) total</a:t>
            </a:r>
          </a:p>
          <a:p>
            <a:pPr>
              <a:spcAft>
                <a:spcPts val="5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Initial Battery Charge: 70% SoC at onset of outage</a:t>
            </a:r>
          </a:p>
          <a:p>
            <a:pPr>
              <a:spcAft>
                <a:spcPts val="5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Available Battery Energy: 2100 Watt-hours (Wh) available</a:t>
            </a:r>
          </a:p>
          <a:p>
            <a:pPr>
              <a:spcAft>
                <a:spcPts val="5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Outage Duration: 4.0 Hours (8 slots @ 30 min each)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4389120" cy="1828800"/>
          </a:xfrm>
          <a:prstGeom prst="roundRect">
            <a:avLst/>
          </a:prstGeom>
          <a:solidFill>
            <a:srgbClr val="E1EDF4"/>
          </a:solidFill>
          <a:ln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1B5277"/>
                </a:solidFill>
                <a:latin typeface="Segoe UI"/>
              </a:defRPr>
            </a:pPr>
            <a:r>
              <a:t>Peak Slot Calculation (Illustrative):</a:t>
            </a:r>
          </a:p>
          <a:p>
            <a:pPr>
              <a:defRPr sz="1250" b="1">
                <a:solidFill>
                  <a:srgbClr val="2872A1"/>
                </a:solidFill>
                <a:latin typeface="Segoe UI"/>
              </a:defRPr>
            </a:pPr>
            <a:r>
              <a:t>750W (Pump) + 150W (Fridge) + 75W (Fan) + 10W (Wi-Fi) = 985 Watts</a:t>
            </a:r>
          </a:p>
          <a:p>
            <a:pPr>
              <a:defRPr sz="1050">
                <a:solidFill>
                  <a:srgbClr val="17354A"/>
                </a:solidFill>
                <a:latin typeface="Segoe UI"/>
              </a:defRPr>
            </a:pPr>
            <a:r>
              <a:t>✓ 985 W ≤ 1000 W inverter ceiling. Safely operable without tripping the inverter.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280160"/>
            <a:ext cx="55778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Household Appliances Profile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35040" y="1874519"/>
          <a:ext cx="5212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Appliance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Power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Essential?</a:t>
                      </a:r>
                    </a:p>
                  </a:txBody>
                  <a:tcPr>
                    <a:solidFill>
                      <a:srgbClr val="287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Refrigerator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150 W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Yes (Essential)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Wi-Fi Router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10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Yes (Essential)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Ceiling Fan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75 W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Television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120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Water Pump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750 W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Air Conditioner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1200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7354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35040" y="48920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872A1"/>
                </a:solidFill>
                <a:latin typeface="Segoe UI"/>
              </a:defRPr>
            </a:pPr>
            <a:r>
              <a:t>Key Observations:</a:t>
            </a:r>
          </a:p>
          <a:p>
            <a:pPr>
              <a:defRPr sz="1000">
                <a:solidFill>
                  <a:srgbClr val="17354A"/>
                </a:solidFill>
                <a:latin typeface="Segoe UI"/>
              </a:defRPr>
            </a:pPr>
            <a:r>
              <a:t>• Air Conditioner (1200W) &gt; 1000W Inverter Limit -&gt; Automatically excluded.</a:t>
            </a:r>
            <a:br/>
            <a:r>
              <a:t>• Water Pump (750W) can only run when other heavy loads are turned 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Results, Evaluation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Documented System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Optimized Schedule Matrix:</a:t>
            </a:r>
            <a:br/>
            <a:r>
              <a:t>   Gantt schedule of active appliance intervals.</a:t>
            </a:r>
          </a:p>
          <a:p>
            <a:pPr>
              <a:spcAft>
                <a:spcPts val="8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Energy &amp; Power Telemetry:</a:t>
            </a:r>
            <a:br/>
            <a:r>
              <a:t>   Total energy consumed (Wh), remaining battery (Wh &amp; %), peak load (W).</a:t>
            </a:r>
          </a:p>
          <a:p>
            <a:pPr>
              <a:spcAft>
                <a:spcPts val="8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Satisfaction Metrics:</a:t>
            </a:r>
            <a:br/>
            <a:r>
              <a:t>   Priority satisfaction index (%) and essential load satisfaction (%).</a:t>
            </a:r>
          </a:p>
          <a:p>
            <a:pPr>
              <a:spcAft>
                <a:spcPts val="8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Natural Language Explanations:</a:t>
            </a:r>
            <a:br/>
            <a:r>
              <a:t>   Human-readable justifications for every appliance decision.</a:t>
            </a:r>
          </a:p>
          <a:p>
            <a:pPr>
              <a:spcAft>
                <a:spcPts val="8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Validation &amp; Benchmark:</a:t>
            </a:r>
            <a:br/>
            <a:r>
              <a:t>   Automated feasibility tests and comparison against naive scheduler.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Planned 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Real-Time IoT Monitoring:</a:t>
            </a:r>
            <a:br/>
            <a:r>
              <a:t>   Direct integration with smart battery BMS and IoT energy meters.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Hybrid Power Sources:</a:t>
            </a:r>
            <a:br/>
            <a:r>
              <a:t>   Dynamic dispatch across solar PV, wind microgeneration, and grid power.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Weather-Based Solar Forecasting:</a:t>
            </a:r>
            <a:br/>
            <a:r>
              <a:t>   Predict solar insolation curves to proactively adjust daytime backup.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Mobile Client Application:</a:t>
            </a:r>
            <a:br/>
            <a:r>
              <a:t>   Flutter / React Native mobile interface with push alert notifications.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Multi-Day Outage Planning:</a:t>
            </a:r>
            <a:br/>
            <a:r>
              <a:t>   Dynamic horizon planning for extended multi-day disaster scenarios.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Appliance Usage Learning:</a:t>
            </a:r>
            <a:br/>
            <a:r>
              <a:t>   Machine learning of household usage routines to automate preference settings.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D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5277"/>
                </a:solidFill>
                <a:latin typeface="Segoe UI"/>
              </a:defRPr>
            </a:pPr>
            <a:r>
              <a:t>Conclusion &amp;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872A1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5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2A1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Practical Problem Solving: Solves real-world household backup energy bottlenecks during unexpected grid failures.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Principled Local Search: Demonstrates Simulated Annealing from Foundations of AI Unit II, effectively navigating combinatorial state spaces.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Balanced Optimization: Multi-factor objective function respects critical priorities while strictly preventing inverter trip and battery exhaustion.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Rigorous Constraint Validation: Hard penalty formulation guarantees physically viable schedules (under 1000W peak load).</a:t>
            </a:r>
          </a:p>
          <a:p>
            <a:pPr>
              <a:spcAft>
                <a:spcPts val="700"/>
              </a:spcAft>
              <a:defRPr sz="1100">
                <a:solidFill>
                  <a:srgbClr val="17354A"/>
                </a:solidFill>
                <a:latin typeface="Segoe UI"/>
              </a:defRPr>
            </a:pPr>
            <a:r>
              <a:t>• Transparent &amp; Extensible: Zero black-box solvers; hand-crafted algorithms with natural-language explanation capability.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120640"/>
            <a:ext cx="5669280" cy="868680"/>
          </a:xfrm>
          <a:prstGeom prst="roundRect">
            <a:avLst/>
          </a:prstGeom>
          <a:solidFill>
            <a:srgbClr val="E1EDF4"/>
          </a:solidFill>
          <a:ln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B5277"/>
                </a:solidFill>
                <a:latin typeface="Segoe UI"/>
              </a:defRPr>
            </a:pPr>
            <a:r>
              <a:t>“AI-driven scheduling can help households make better use of limited backup power during outages.”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280160"/>
            <a:ext cx="4114800" cy="1728511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87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1554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872A1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B5277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2416</Words>
  <Application>Microsoft Office PowerPoint</Application>
  <PresentationFormat>Widescreen</PresentationFormat>
  <Paragraphs>244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Thamizharasan M</cp:lastModifiedBy>
  <cp:revision>1</cp:revision>
  <dcterms:created xsi:type="dcterms:W3CDTF">2013-01-27T09:14:16Z</dcterms:created>
  <dcterms:modified xsi:type="dcterms:W3CDTF">2026-10-13T03:52:49Z</dcterms:modified>
  <cp:category/>
</cp:coreProperties>
</file>